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1" r:id="rId16"/>
    <p:sldId id="272" r:id="rId17"/>
    <p:sldId id="274" r:id="rId18"/>
    <p:sldId id="276" r:id="rId19"/>
    <p:sldId id="277" r:id="rId20"/>
    <p:sldId id="278" r:id="rId21"/>
    <p:sldId id="280" r:id="rId22"/>
    <p:sldId id="281" r:id="rId23"/>
    <p:sldId id="279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9749cd0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9749cd0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19749cd0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19749cd0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9758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7D63D8AC-D815-3B4D-9919-E58E66E9D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9f2f57a71_0_207:notes">
            <a:extLst>
              <a:ext uri="{FF2B5EF4-FFF2-40B4-BE49-F238E27FC236}">
                <a16:creationId xmlns:a16="http://schemas.microsoft.com/office/drawing/2014/main" id="{2663F0D5-57A6-7BF9-CE7A-04EF7CC02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99f2f57a71_0_207:notes">
            <a:extLst>
              <a:ext uri="{FF2B5EF4-FFF2-40B4-BE49-F238E27FC236}">
                <a16:creationId xmlns:a16="http://schemas.microsoft.com/office/drawing/2014/main" id="{0B0BA930-024A-B8F5-7139-F3FFC20F60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340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FA71CE44-75CE-797A-A325-B05E4E3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9f2f57a71_0_207:notes">
            <a:extLst>
              <a:ext uri="{FF2B5EF4-FFF2-40B4-BE49-F238E27FC236}">
                <a16:creationId xmlns:a16="http://schemas.microsoft.com/office/drawing/2014/main" id="{57D822A7-8766-CDB3-EAEC-BE89A5D6C6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99f2f57a71_0_207:notes">
            <a:extLst>
              <a:ext uri="{FF2B5EF4-FFF2-40B4-BE49-F238E27FC236}">
                <a16:creationId xmlns:a16="http://schemas.microsoft.com/office/drawing/2014/main" id="{2B71F854-234B-4278-3959-38CB8EC93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5158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4BB27953-7CC0-3931-672B-6B677C769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9f2f57a71_0_207:notes">
            <a:extLst>
              <a:ext uri="{FF2B5EF4-FFF2-40B4-BE49-F238E27FC236}">
                <a16:creationId xmlns:a16="http://schemas.microsoft.com/office/drawing/2014/main" id="{60AEC483-742B-49FC-32D8-46238BE3F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99f2f57a71_0_207:notes">
            <a:extLst>
              <a:ext uri="{FF2B5EF4-FFF2-40B4-BE49-F238E27FC236}">
                <a16:creationId xmlns:a16="http://schemas.microsoft.com/office/drawing/2014/main" id="{9BFE100B-4D72-6A40-2D14-0E1448D37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5802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48000">
              <a:schemeClr val="lt1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851300" y="539400"/>
            <a:ext cx="5441400" cy="22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307550" y="2753300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360857" y="1490575"/>
            <a:ext cx="9865618" cy="3609028"/>
            <a:chOff x="-360857" y="1490575"/>
            <a:chExt cx="9865618" cy="3609028"/>
          </a:xfrm>
        </p:grpSpPr>
        <p:pic>
          <p:nvPicPr>
            <p:cNvPr id="12" name="Google Shape;12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191904" y="3594388"/>
              <a:ext cx="925053" cy="1497195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3" name="Google Shape;13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2401" y="2863129"/>
              <a:ext cx="1112202" cy="2021213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965892" y="2994032"/>
              <a:ext cx="1240533" cy="2069337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5" name="Google Shape;15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360857" y="1490577"/>
              <a:ext cx="1236174" cy="2887448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6" name="Google Shape;16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35417" y="3586367"/>
              <a:ext cx="930400" cy="1513236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7" name="Google Shape;17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196817" y="2884522"/>
              <a:ext cx="1074772" cy="1978436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980340" y="2994032"/>
              <a:ext cx="1197756" cy="2031908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9" name="Google Shape;19;p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274497" y="1490575"/>
              <a:ext cx="1230263" cy="2887448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13100" y="2536988"/>
            <a:ext cx="271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1467825" y="1272538"/>
            <a:ext cx="1208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713100" y="3365913"/>
            <a:ext cx="2718000" cy="68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lt1"/>
            </a:gs>
            <a:gs pos="48000">
              <a:schemeClr val="lt1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11946" y="3542588"/>
            <a:ext cx="925053" cy="1497195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28" name="Google Shape;2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774642" y="2443482"/>
            <a:ext cx="1240533" cy="2069337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29" name="Google Shape;29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742" y="3426792"/>
            <a:ext cx="930400" cy="1513236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1"/>
            </a:gs>
            <a:gs pos="48000">
              <a:schemeClr val="lt1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30908" y="2571757"/>
            <a:ext cx="998117" cy="1813897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42" name="Google Shape;4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404404" y="3039023"/>
            <a:ext cx="1074902" cy="1823495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lt1"/>
            </a:gs>
            <a:gs pos="48000">
              <a:schemeClr val="lt1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713100" y="2037225"/>
            <a:ext cx="3858900" cy="22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100" y="876700"/>
            <a:ext cx="3858900" cy="116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565931" y="3983100"/>
            <a:ext cx="2728061" cy="1160400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47" name="Google Shape;4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8750" y="3809476"/>
            <a:ext cx="2559226" cy="1233200"/>
          </a:xfrm>
          <a:prstGeom prst="rect">
            <a:avLst/>
          </a:prstGeom>
          <a:noFill/>
          <a:ln>
            <a:noFill/>
          </a:ln>
          <a:effectLst>
            <a:reflection stA="50000" endPos="30000" fadeDir="5400012" sy="-100000" algn="bl" rotWithShape="0"/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5_1">
    <p:bg>
      <p:bgPr>
        <a:gradFill>
          <a:gsLst>
            <a:gs pos="0">
              <a:srgbClr val="BFBFBF">
                <a:alpha val="15294"/>
              </a:srgbClr>
            </a:gs>
            <a:gs pos="63000">
              <a:srgbClr val="BFBFBF">
                <a:alpha val="15294"/>
              </a:srgbClr>
            </a:gs>
            <a:gs pos="100000">
              <a:srgbClr val="BBBBBB">
                <a:alpha val="4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2"/>
          </p:nvPr>
        </p:nvSpPr>
        <p:spPr>
          <a:xfrm>
            <a:off x="1833337" y="1432505"/>
            <a:ext cx="2327100" cy="4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1"/>
          </p:nvPr>
        </p:nvSpPr>
        <p:spPr>
          <a:xfrm>
            <a:off x="1833337" y="1801081"/>
            <a:ext cx="232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3"/>
          </p:nvPr>
        </p:nvSpPr>
        <p:spPr>
          <a:xfrm>
            <a:off x="5890162" y="1432505"/>
            <a:ext cx="2327100" cy="4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4"/>
          </p:nvPr>
        </p:nvSpPr>
        <p:spPr>
          <a:xfrm>
            <a:off x="5890163" y="1801081"/>
            <a:ext cx="232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5"/>
          </p:nvPr>
        </p:nvSpPr>
        <p:spPr>
          <a:xfrm>
            <a:off x="1833337" y="2830205"/>
            <a:ext cx="2327100" cy="4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6"/>
          </p:nvPr>
        </p:nvSpPr>
        <p:spPr>
          <a:xfrm>
            <a:off x="1833337" y="3198805"/>
            <a:ext cx="232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7"/>
          </p:nvPr>
        </p:nvSpPr>
        <p:spPr>
          <a:xfrm>
            <a:off x="5890162" y="2830205"/>
            <a:ext cx="2327100" cy="4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8"/>
          </p:nvPr>
        </p:nvSpPr>
        <p:spPr>
          <a:xfrm>
            <a:off x="5890163" y="3198805"/>
            <a:ext cx="2327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title" idx="9" hasCustomPrompt="1"/>
          </p:nvPr>
        </p:nvSpPr>
        <p:spPr>
          <a:xfrm>
            <a:off x="926737" y="1579730"/>
            <a:ext cx="906600" cy="6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13" hasCustomPrompt="1"/>
          </p:nvPr>
        </p:nvSpPr>
        <p:spPr>
          <a:xfrm>
            <a:off x="926737" y="2977455"/>
            <a:ext cx="906600" cy="6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14" hasCustomPrompt="1"/>
          </p:nvPr>
        </p:nvSpPr>
        <p:spPr>
          <a:xfrm>
            <a:off x="4983562" y="1579730"/>
            <a:ext cx="906600" cy="6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15" hasCustomPrompt="1"/>
          </p:nvPr>
        </p:nvSpPr>
        <p:spPr>
          <a:xfrm>
            <a:off x="4983562" y="2977455"/>
            <a:ext cx="906600" cy="6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pic>
        <p:nvPicPr>
          <p:cNvPr id="81" name="Google Shape;8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48250" y="3923102"/>
            <a:ext cx="2327100" cy="989849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82" name="Google Shape;8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85750" y="3887475"/>
            <a:ext cx="2547562" cy="989850"/>
          </a:xfrm>
          <a:prstGeom prst="rect">
            <a:avLst/>
          </a:prstGeom>
          <a:noFill/>
          <a:ln>
            <a:noFill/>
          </a:ln>
          <a:effectLst>
            <a:reflection stA="50000" endPos="30000" fadeDir="5400012" sy="-100000" algn="bl" rotWithShape="0"/>
          </a:effectLst>
        </p:spPr>
      </p:pic>
      <p:pic>
        <p:nvPicPr>
          <p:cNvPr id="83" name="Google Shape;8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6704" y="3499738"/>
            <a:ext cx="925053" cy="1497195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bg>
      <p:bgPr>
        <a:gradFill>
          <a:gsLst>
            <a:gs pos="0">
              <a:schemeClr val="lt1"/>
            </a:gs>
            <a:gs pos="48000">
              <a:schemeClr val="lt1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3000450" y="681938"/>
            <a:ext cx="3143100" cy="8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ubTitle" idx="1"/>
          </p:nvPr>
        </p:nvSpPr>
        <p:spPr>
          <a:xfrm>
            <a:off x="3000450" y="1554938"/>
            <a:ext cx="3143100" cy="13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3000450" y="3429711"/>
            <a:ext cx="314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ntarell"/>
                <a:ea typeface="Cantarell"/>
                <a:cs typeface="Cantarell"/>
                <a:sym typeface="Cantarel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ntarell"/>
                <a:ea typeface="Cantarell"/>
                <a:cs typeface="Cantarell"/>
                <a:sym typeface="Cantarel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rPr>
              <a:t> </a:t>
            </a:r>
            <a:r>
              <a:rPr lang="en" sz="1000"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rPr>
              <a:t>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Cantarell"/>
                <a:ea typeface="Cantarell"/>
                <a:cs typeface="Cantarell"/>
                <a:sym typeface="Cantarel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gradFill>
          <a:gsLst>
            <a:gs pos="0">
              <a:schemeClr val="lt1"/>
            </a:gs>
            <a:gs pos="48000">
              <a:schemeClr val="lt1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23646" y="2571750"/>
            <a:ext cx="925053" cy="1497195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90" y="2297857"/>
            <a:ext cx="1197756" cy="2031908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150" name="Google Shape;15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55350" y="4250374"/>
            <a:ext cx="2385751" cy="925525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2351" y="845755"/>
            <a:ext cx="1864350" cy="3388125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79022" y="344580"/>
            <a:ext cx="2157330" cy="3598650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154" name="Google Shape;15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9313" y="3713950"/>
            <a:ext cx="3997700" cy="1700450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bg>
      <p:bgPr>
        <a:gradFill>
          <a:gsLst>
            <a:gs pos="0">
              <a:schemeClr val="lt1"/>
            </a:gs>
            <a:gs pos="48000">
              <a:schemeClr val="lt1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24"/>
          <p:cNvGrpSpPr/>
          <p:nvPr/>
        </p:nvGrpSpPr>
        <p:grpSpPr>
          <a:xfrm>
            <a:off x="-360857" y="1490575"/>
            <a:ext cx="9865618" cy="3609028"/>
            <a:chOff x="-360857" y="1490575"/>
            <a:chExt cx="9865618" cy="3609028"/>
          </a:xfrm>
        </p:grpSpPr>
        <p:pic>
          <p:nvPicPr>
            <p:cNvPr id="157" name="Google Shape;157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191904" y="3594388"/>
              <a:ext cx="925053" cy="1497195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58" name="Google Shape;158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72401" y="2863129"/>
              <a:ext cx="1112202" cy="2021213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59" name="Google Shape;159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1965892" y="2994032"/>
              <a:ext cx="1240533" cy="2069337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60" name="Google Shape;160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360857" y="1490577"/>
              <a:ext cx="1236174" cy="2887448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61" name="Google Shape;161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035417" y="3586367"/>
              <a:ext cx="930400" cy="1513236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62" name="Google Shape;162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196817" y="2884522"/>
              <a:ext cx="1074772" cy="1978436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63" name="Google Shape;163;p2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980340" y="2994032"/>
              <a:ext cx="1197756" cy="2031908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  <p:pic>
          <p:nvPicPr>
            <p:cNvPr id="164" name="Google Shape;164;p2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274497" y="1490575"/>
              <a:ext cx="1230263" cy="2887448"/>
            </a:xfrm>
            <a:prstGeom prst="rect">
              <a:avLst/>
            </a:prstGeom>
            <a:noFill/>
            <a:ln>
              <a:noFill/>
            </a:ln>
            <a:effectLst>
              <a:reflection stA="50000" endPos="31000" fadeDir="5400012" sy="-100000" algn="bl" rotWithShape="0"/>
            </a:effectLst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3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50451" y="2460054"/>
            <a:ext cx="1112202" cy="2021213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167" name="Google Shape;16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5092" y="1873882"/>
            <a:ext cx="1240533" cy="2069337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168" name="Google Shape;16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8070" y="3730791"/>
            <a:ext cx="2712780" cy="1052349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BFBFBF">
                <a:alpha val="15294"/>
              </a:srgbClr>
            </a:gs>
            <a:gs pos="63000">
              <a:srgbClr val="BFBFBF">
                <a:alpha val="15294"/>
              </a:srgbClr>
            </a:gs>
            <a:gs pos="100000">
              <a:srgbClr val="BBBBBB">
                <a:alpha val="40000"/>
              </a:srgb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inzel"/>
              <a:buNone/>
              <a:defRPr sz="3500">
                <a:solidFill>
                  <a:schemeClr val="dk1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●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●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●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ntarell"/>
              <a:buChar char="○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ntarell"/>
              <a:buChar char="■"/>
              <a:defRPr>
                <a:solidFill>
                  <a:schemeClr val="dk1"/>
                </a:solidFill>
                <a:latin typeface="Cantarell"/>
                <a:ea typeface="Cantarell"/>
                <a:cs typeface="Cantarell"/>
                <a:sym typeface="Cantarel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8" r:id="rId6"/>
    <p:sldLayoutId id="2147483659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datasnaek/chess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ctrTitle"/>
          </p:nvPr>
        </p:nvSpPr>
        <p:spPr>
          <a:xfrm>
            <a:off x="1851300" y="539400"/>
            <a:ext cx="5441400" cy="226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/>
              <a:t>LICHESS </a:t>
            </a:r>
            <a:r>
              <a:rPr lang="en-US" sz="4700" dirty="0"/>
              <a:t>GAME ANALYSIS </a:t>
            </a:r>
            <a:br>
              <a:rPr lang="en-US" sz="4700" dirty="0"/>
            </a:br>
            <a:r>
              <a:rPr lang="en-US" sz="4700" dirty="0"/>
              <a:t>PROJECT</a:t>
            </a:r>
            <a:endParaRPr sz="4700" dirty="0"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35639B-5F97-13EE-F9AE-94CCD9E5E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6549" y="1555043"/>
            <a:ext cx="8787451" cy="2229600"/>
          </a:xfrm>
        </p:spPr>
        <p:txBody>
          <a:bodyPr/>
          <a:lstStyle/>
          <a:p>
            <a:r>
              <a:rPr lang="en-US" sz="1600" dirty="0"/>
              <a:t>YUSUF MAHMOUD  YUSUF   “ Cleaning using power query &amp; Homepage Overview dashboard”</a:t>
            </a:r>
          </a:p>
          <a:p>
            <a:r>
              <a:rPr lang="en-US" sz="1600" dirty="0"/>
              <a:t>OLA HAZEM MOHAMED       “Player dashboard &amp; DAX &amp; Design “Layout of project dashboards”</a:t>
            </a:r>
          </a:p>
          <a:p>
            <a:r>
              <a:rPr lang="en-US" sz="1600" dirty="0"/>
              <a:t>RODINA OSAMA IBRAHIM    “Opening dashboard &amp; DAX”</a:t>
            </a:r>
          </a:p>
          <a:p>
            <a:r>
              <a:rPr lang="en-US" sz="1600" dirty="0"/>
              <a:t>SEIF ELDEEN KHALED             “Cleaning using python &amp; Moves dashboard”</a:t>
            </a:r>
          </a:p>
          <a:p>
            <a:r>
              <a:rPr lang="en-US" sz="1600" dirty="0"/>
              <a:t>OMAR ABDELKAREEM          “Performance dashboard”</a:t>
            </a:r>
          </a:p>
          <a:p>
            <a:r>
              <a:rPr lang="en-US" sz="1600" dirty="0"/>
              <a:t>ROWIDA TAMER                    “Performance dashboard”</a:t>
            </a: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65F6EE-DFED-307C-1A35-8EEBF53D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00" y="296475"/>
            <a:ext cx="3858900" cy="1160400"/>
          </a:xfrm>
        </p:spPr>
        <p:txBody>
          <a:bodyPr/>
          <a:lstStyle/>
          <a:p>
            <a:r>
              <a:rPr lang="en-US" dirty="0"/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134019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48000">
              <a:schemeClr val="lt1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/>
          <p:nvPr/>
        </p:nvSpPr>
        <p:spPr>
          <a:xfrm>
            <a:off x="926737" y="1449854"/>
            <a:ext cx="906600" cy="906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1"/>
          <p:cNvSpPr/>
          <p:nvPr/>
        </p:nvSpPr>
        <p:spPr>
          <a:xfrm>
            <a:off x="926737" y="2847554"/>
            <a:ext cx="906600" cy="906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31"/>
          <p:cNvSpPr/>
          <p:nvPr/>
        </p:nvSpPr>
        <p:spPr>
          <a:xfrm>
            <a:off x="4983562" y="1449854"/>
            <a:ext cx="906600" cy="906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1"/>
          <p:cNvSpPr/>
          <p:nvPr/>
        </p:nvSpPr>
        <p:spPr>
          <a:xfrm>
            <a:off x="4983562" y="2847554"/>
            <a:ext cx="906600" cy="906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31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OUTLINES</a:t>
            </a:r>
            <a:endParaRPr dirty="0"/>
          </a:p>
        </p:txBody>
      </p:sp>
      <p:sp>
        <p:nvSpPr>
          <p:cNvPr id="199" name="Google Shape;199;p31"/>
          <p:cNvSpPr txBox="1">
            <a:spLocks noGrp="1"/>
          </p:cNvSpPr>
          <p:nvPr>
            <p:ph type="title" idx="2"/>
          </p:nvPr>
        </p:nvSpPr>
        <p:spPr>
          <a:xfrm>
            <a:off x="1833337" y="1623131"/>
            <a:ext cx="2327100" cy="6467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latin typeface="Cinzel"/>
                <a:ea typeface="Cinzel"/>
                <a:cs typeface="Cinzel"/>
                <a:sym typeface="Cinzel"/>
              </a:rPr>
              <a:t>OBJECTIVE</a:t>
            </a:r>
            <a:endParaRPr sz="2800" dirty="0"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201" name="Google Shape;201;p31"/>
          <p:cNvSpPr txBox="1">
            <a:spLocks noGrp="1"/>
          </p:cNvSpPr>
          <p:nvPr>
            <p:ph type="title" idx="3"/>
          </p:nvPr>
        </p:nvSpPr>
        <p:spPr>
          <a:xfrm>
            <a:off x="5890162" y="1733755"/>
            <a:ext cx="2839168" cy="4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DATA SOURCE</a:t>
            </a:r>
            <a:endParaRPr sz="2800" dirty="0"/>
          </a:p>
        </p:txBody>
      </p:sp>
      <p:sp>
        <p:nvSpPr>
          <p:cNvPr id="203" name="Google Shape;203;p31"/>
          <p:cNvSpPr txBox="1">
            <a:spLocks noGrp="1"/>
          </p:cNvSpPr>
          <p:nvPr>
            <p:ph type="title" idx="5"/>
          </p:nvPr>
        </p:nvSpPr>
        <p:spPr>
          <a:xfrm>
            <a:off x="1833337" y="2830205"/>
            <a:ext cx="2327100" cy="9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BUSINESS QUESTIONS</a:t>
            </a:r>
            <a:endParaRPr sz="2400" dirty="0"/>
          </a:p>
        </p:txBody>
      </p:sp>
      <p:sp>
        <p:nvSpPr>
          <p:cNvPr id="205" name="Google Shape;205;p31"/>
          <p:cNvSpPr txBox="1">
            <a:spLocks noGrp="1"/>
          </p:cNvSpPr>
          <p:nvPr>
            <p:ph type="title" idx="7"/>
          </p:nvPr>
        </p:nvSpPr>
        <p:spPr>
          <a:xfrm>
            <a:off x="5890162" y="3151754"/>
            <a:ext cx="3150225" cy="44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KPIS &amp; INSIGHTS</a:t>
            </a:r>
            <a:endParaRPr sz="2800" dirty="0"/>
          </a:p>
        </p:txBody>
      </p:sp>
      <p:sp>
        <p:nvSpPr>
          <p:cNvPr id="207" name="Google Shape;207;p31"/>
          <p:cNvSpPr txBox="1">
            <a:spLocks noGrp="1"/>
          </p:cNvSpPr>
          <p:nvPr>
            <p:ph type="title" idx="9"/>
          </p:nvPr>
        </p:nvSpPr>
        <p:spPr>
          <a:xfrm>
            <a:off x="926737" y="1579730"/>
            <a:ext cx="906600" cy="646800"/>
          </a:xfrm>
          <a:prstGeom prst="rect">
            <a:avLst/>
          </a:prstGeom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8" name="Google Shape;208;p31"/>
          <p:cNvSpPr txBox="1">
            <a:spLocks noGrp="1"/>
          </p:cNvSpPr>
          <p:nvPr>
            <p:ph type="title" idx="13"/>
          </p:nvPr>
        </p:nvSpPr>
        <p:spPr>
          <a:xfrm>
            <a:off x="926737" y="2977455"/>
            <a:ext cx="906600" cy="646800"/>
          </a:xfrm>
          <a:prstGeom prst="rect">
            <a:avLst/>
          </a:prstGeom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9" name="Google Shape;209;p31"/>
          <p:cNvSpPr txBox="1">
            <a:spLocks noGrp="1"/>
          </p:cNvSpPr>
          <p:nvPr>
            <p:ph type="title" idx="14"/>
          </p:nvPr>
        </p:nvSpPr>
        <p:spPr>
          <a:xfrm>
            <a:off x="4983562" y="1579730"/>
            <a:ext cx="906600" cy="646800"/>
          </a:xfrm>
          <a:prstGeom prst="rect">
            <a:avLst/>
          </a:prstGeom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title" idx="15"/>
          </p:nvPr>
        </p:nvSpPr>
        <p:spPr>
          <a:xfrm>
            <a:off x="4983562" y="2977455"/>
            <a:ext cx="906600" cy="646800"/>
          </a:xfrm>
          <a:prstGeom prst="rect">
            <a:avLst/>
          </a:prstGeom>
        </p:spPr>
        <p:txBody>
          <a:bodyPr spcFirstLastPara="1" wrap="square" lIns="91425" tIns="91425" rIns="91425" bIns="91425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/>
          <p:nvPr/>
        </p:nvSpPr>
        <p:spPr>
          <a:xfrm>
            <a:off x="713100" y="309225"/>
            <a:ext cx="1208700" cy="12087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"/>
          <p:cNvSpPr txBox="1">
            <a:spLocks noGrp="1"/>
          </p:cNvSpPr>
          <p:nvPr>
            <p:ph type="title"/>
          </p:nvPr>
        </p:nvSpPr>
        <p:spPr>
          <a:xfrm>
            <a:off x="562799" y="2211197"/>
            <a:ext cx="2948675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PROJECT OBJECTIVE</a:t>
            </a:r>
            <a:endParaRPr sz="4000" dirty="0"/>
          </a:p>
        </p:txBody>
      </p:sp>
      <p:sp>
        <p:nvSpPr>
          <p:cNvPr id="225" name="Google Shape;225;p33"/>
          <p:cNvSpPr txBox="1">
            <a:spLocks noGrp="1"/>
          </p:cNvSpPr>
          <p:nvPr>
            <p:ph type="title" idx="2"/>
          </p:nvPr>
        </p:nvSpPr>
        <p:spPr>
          <a:xfrm>
            <a:off x="713100" y="492675"/>
            <a:ext cx="1208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475" y="1517925"/>
            <a:ext cx="4978627" cy="2107651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228" name="Google Shape;22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4396" y="3419897"/>
            <a:ext cx="3115697" cy="1208700"/>
          </a:xfrm>
          <a:prstGeom prst="rect">
            <a:avLst/>
          </a:prstGeom>
          <a:noFill/>
          <a:ln>
            <a:noFill/>
          </a:ln>
          <a:effectLst>
            <a:reflection stA="50000" endPos="49000" fadeDir="5400012" sy="-100000" algn="bl" rotWithShape="0"/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720000" y="253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PROJECT OBJECTIVE</a:t>
            </a:r>
            <a:endParaRPr dirty="0"/>
          </a:p>
        </p:txBody>
      </p:sp>
      <p:sp>
        <p:nvSpPr>
          <p:cNvPr id="188" name="Google Shape;188;p30"/>
          <p:cNvSpPr txBox="1"/>
          <p:nvPr/>
        </p:nvSpPr>
        <p:spPr>
          <a:xfrm>
            <a:off x="713100" y="4096200"/>
            <a:ext cx="3858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A494B6-3BCC-17DB-D510-37B5448F9710}"/>
              </a:ext>
            </a:extLst>
          </p:cNvPr>
          <p:cNvSpPr txBox="1">
            <a:spLocks/>
          </p:cNvSpPr>
          <p:nvPr/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ar-EG" b="1" dirty="0"/>
              <a:t> </a:t>
            </a:r>
            <a:r>
              <a:rPr lang="en-US" sz="1600" b="1" dirty="0"/>
              <a:t>Project Idea – Chess </a:t>
            </a:r>
            <a:r>
              <a:rPr lang="en-US" sz="1600" b="1" dirty="0" err="1"/>
              <a:t>Lichess</a:t>
            </a:r>
            <a:r>
              <a:rPr lang="en-US" sz="1600" b="1" dirty="0"/>
              <a:t> Analysis Dashboard</a:t>
            </a:r>
            <a:br>
              <a:rPr lang="en-US" dirty="0"/>
            </a:br>
            <a:r>
              <a:rPr lang="en-US" dirty="0"/>
              <a:t>This project aims to transform raw </a:t>
            </a:r>
            <a:r>
              <a:rPr lang="en-US" dirty="0" err="1"/>
              <a:t>Lichess</a:t>
            </a:r>
            <a:r>
              <a:rPr lang="en-US" dirty="0"/>
              <a:t> game data into a powerful, interactive Power BI dashboard that helps players, analysts, and chess enthusiasts understand their gameplay at a deeper level. The goal is to deliver a visually engaging and insight-driven analytical experience that uncovers patterns in openings, move behavior, game outcomes, and player performance over time.</a:t>
            </a:r>
          </a:p>
          <a:p>
            <a:endParaRPr lang="en-US" dirty="0"/>
          </a:p>
          <a:p>
            <a:r>
              <a:rPr lang="en-US" sz="1600" b="1" dirty="0"/>
              <a:t>Purpose</a:t>
            </a:r>
            <a:br>
              <a:rPr lang="en-US" dirty="0"/>
            </a:br>
            <a:r>
              <a:rPr lang="en-US" dirty="0"/>
              <a:t>To provide a production ready analytics solution that identifies performance trends, highlights strategic strengths and weaknesses, and supports data-driven decision-making for training, competition, and product development.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/>
              <a:t>PROJECT OBJECTIVE</a:t>
            </a:r>
            <a:endParaRPr dirty="0"/>
          </a:p>
        </p:txBody>
      </p:sp>
      <p:sp>
        <p:nvSpPr>
          <p:cNvPr id="188" name="Google Shape;188;p30"/>
          <p:cNvSpPr txBox="1"/>
          <p:nvPr/>
        </p:nvSpPr>
        <p:spPr>
          <a:xfrm>
            <a:off x="713100" y="4096200"/>
            <a:ext cx="38589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A494B6-3BCC-17DB-D510-37B5448F9710}"/>
              </a:ext>
            </a:extLst>
          </p:cNvPr>
          <p:cNvSpPr txBox="1">
            <a:spLocks/>
          </p:cNvSpPr>
          <p:nvPr/>
        </p:nvSpPr>
        <p:spPr>
          <a:xfrm>
            <a:off x="713100" y="624681"/>
            <a:ext cx="7704000" cy="414933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 dirty="0"/>
              <a:t>Key Features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Automated data cleaning using </a:t>
            </a:r>
            <a:r>
              <a:rPr lang="en-US" b="1" dirty="0"/>
              <a:t>Power Query</a:t>
            </a:r>
            <a:r>
              <a:rPr lang="en-US" dirty="0"/>
              <a:t> and </a:t>
            </a:r>
            <a:r>
              <a:rPr lang="en-US" b="1" dirty="0"/>
              <a:t>Python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Extraction of piece-movement patterns directly from the </a:t>
            </a:r>
            <a:r>
              <a:rPr lang="en-US" i="1" dirty="0"/>
              <a:t>moves</a:t>
            </a:r>
            <a:r>
              <a:rPr lang="en-US" dirty="0"/>
              <a:t> column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KPI visuals that track openings, accuracy, game length, and move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Intuitive and user-friendly dashboard pages for deep performance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Insights tailored for casual players, competitive players, coaches, and product teams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1600" b="1" dirty="0"/>
              <a:t>Future Improvements &amp; Market Potential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AI-Powered Opening Recommendations</a:t>
            </a:r>
            <a:br>
              <a:rPr lang="en-US" dirty="0"/>
            </a:br>
            <a:r>
              <a:rPr lang="en-US" i="1" dirty="0"/>
              <a:t>Suggests optimal openings based on player history and performance patterns.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Win Probability Prediction Model</a:t>
            </a:r>
            <a:br>
              <a:rPr lang="en-US" dirty="0"/>
            </a:br>
            <a:r>
              <a:rPr lang="en-US" i="1" dirty="0"/>
              <a:t>Calculates real-time likelihood of winning based on move progression and game context.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Mobile-Optimized Analytics Version</a:t>
            </a:r>
            <a:br>
              <a:rPr lang="en-US" dirty="0"/>
            </a:br>
            <a:r>
              <a:rPr lang="en-US" i="1" dirty="0"/>
              <a:t>Provides a simplified dashboard for quick insights on phones and tablets.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Multi-Platform Data Support (Chess.com &amp; FIDE PGNs)</a:t>
            </a:r>
            <a:br>
              <a:rPr lang="en-US" dirty="0"/>
            </a:br>
            <a:r>
              <a:rPr lang="en-US" i="1" dirty="0"/>
              <a:t>Expands the dashboard to analyze games from several chess platforms, not only </a:t>
            </a:r>
            <a:r>
              <a:rPr lang="en-US" i="1" dirty="0" err="1"/>
              <a:t>Lichess</a:t>
            </a:r>
            <a:r>
              <a:rPr lang="en-US" i="1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Premium Insights &amp; Coaching Reports</a:t>
            </a:r>
            <a:br>
              <a:rPr lang="en-US" dirty="0"/>
            </a:br>
            <a:r>
              <a:rPr lang="en-US" i="1" dirty="0"/>
              <a:t>Offers advanced paid analytics, personalized training insights, and tournament preparation reports.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26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02A08F60-3421-D271-56EC-A5B71FB09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>
            <a:extLst>
              <a:ext uri="{FF2B5EF4-FFF2-40B4-BE49-F238E27FC236}">
                <a16:creationId xmlns:a16="http://schemas.microsoft.com/office/drawing/2014/main" id="{93F9D8E4-B104-9AB0-82E4-A11AD7CAFF47}"/>
              </a:ext>
            </a:extLst>
          </p:cNvPr>
          <p:cNvSpPr/>
          <p:nvPr/>
        </p:nvSpPr>
        <p:spPr>
          <a:xfrm>
            <a:off x="713100" y="409588"/>
            <a:ext cx="1208700" cy="12087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">
            <a:extLst>
              <a:ext uri="{FF2B5EF4-FFF2-40B4-BE49-F238E27FC236}">
                <a16:creationId xmlns:a16="http://schemas.microsoft.com/office/drawing/2014/main" id="{F9F53C3B-ED02-822A-0743-BF232F1E5F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799" y="2211197"/>
            <a:ext cx="2948675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Data source</a:t>
            </a:r>
            <a:endParaRPr sz="4000" dirty="0"/>
          </a:p>
        </p:txBody>
      </p:sp>
      <p:sp>
        <p:nvSpPr>
          <p:cNvPr id="225" name="Google Shape;225;p33">
            <a:extLst>
              <a:ext uri="{FF2B5EF4-FFF2-40B4-BE49-F238E27FC236}">
                <a16:creationId xmlns:a16="http://schemas.microsoft.com/office/drawing/2014/main" id="{B01288F5-820B-FB72-CF20-14E4DE892CA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100" y="593038"/>
            <a:ext cx="1208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227" name="Google Shape;227;p33">
            <a:extLst>
              <a:ext uri="{FF2B5EF4-FFF2-40B4-BE49-F238E27FC236}">
                <a16:creationId xmlns:a16="http://schemas.microsoft.com/office/drawing/2014/main" id="{195EFAFB-9D18-7CE4-AD28-746F5B3420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475" y="1517925"/>
            <a:ext cx="4978627" cy="2107651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228" name="Google Shape;228;p33">
            <a:extLst>
              <a:ext uri="{FF2B5EF4-FFF2-40B4-BE49-F238E27FC236}">
                <a16:creationId xmlns:a16="http://schemas.microsoft.com/office/drawing/2014/main" id="{BADE4299-6FEF-F108-0030-6DA4FD8288F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4396" y="3419897"/>
            <a:ext cx="3115697" cy="1208700"/>
          </a:xfrm>
          <a:prstGeom prst="rect">
            <a:avLst/>
          </a:prstGeom>
          <a:noFill/>
          <a:ln>
            <a:noFill/>
          </a:ln>
          <a:effectLst>
            <a:reflection stA="50000" endPos="49000" fadeDir="5400012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113440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BDDF-F5DD-9849-568B-75F4814A7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30522"/>
            <a:ext cx="7704000" cy="572700"/>
          </a:xfrm>
        </p:spPr>
        <p:txBody>
          <a:bodyPr/>
          <a:lstStyle/>
          <a:p>
            <a:r>
              <a:rPr lang="en-US" sz="3600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Data Source (Brief Description)</a:t>
            </a:r>
            <a:br>
              <a:rPr lang="en-US" sz="3600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</a:br>
            <a:br>
              <a:rPr lang="en-US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A76CA-5BFD-ABA0-6DEA-139F9A339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224" y="863550"/>
            <a:ext cx="7704000" cy="3416400"/>
          </a:xfrm>
        </p:spPr>
        <p:txBody>
          <a:bodyPr/>
          <a:lstStyle/>
          <a:p>
            <a:pPr marL="152400" indent="0" algn="just"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Source</a:t>
            </a:r>
            <a:r>
              <a:rPr lang="en-US" sz="1100" b="1" dirty="0">
                <a:solidFill>
                  <a:schemeClr val="tx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marL="280668" lvl="1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Chess Game Dataset (</a:t>
            </a:r>
            <a:r>
              <a:rPr lang="en-US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Lichess</a:t>
            </a: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280668" lvl="1" indent="0" algn="just">
              <a:lnSpc>
                <a:spcPct val="100000"/>
              </a:lnSpc>
              <a:buNone/>
            </a:pPr>
            <a:r>
              <a:rPr lang="en-US" dirty="0"/>
              <a:t>The dataset was downloaded from </a:t>
            </a:r>
            <a:r>
              <a:rPr lang="en-US" b="1" dirty="0"/>
              <a:t>Kaggle</a:t>
            </a:r>
            <a:r>
              <a:rPr lang="en-US" dirty="0"/>
              <a:t>, containing thousands of real </a:t>
            </a:r>
            <a:r>
              <a:rPr lang="en-US" dirty="0" err="1"/>
              <a:t>Lichess</a:t>
            </a:r>
            <a:r>
              <a:rPr lang="en-US" dirty="0"/>
              <a:t> games in CSV format</a:t>
            </a:r>
            <a:endParaRPr lang="en-US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  <a:hlinkClick r:id="rId2" tooltip="https://www.kaggle.com/datasets/datasnaek/chess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0668" lvl="1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Chess Game Dataset</a:t>
            </a:r>
            <a:endParaRPr lang="en-US" sz="105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indent="0" algn="just">
              <a:buNone/>
            </a:pPr>
            <a:endParaRPr lang="en-US" b="1" dirty="0">
              <a:solidFill>
                <a:schemeClr val="tx1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152400" indent="0" algn="just"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Description</a:t>
            </a:r>
            <a:r>
              <a:rPr lang="en-US" sz="1050" b="1" dirty="0">
                <a:solidFill>
                  <a:schemeClr val="tx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</a:t>
            </a:r>
          </a:p>
          <a:p>
            <a:pPr marL="280668" lvl="1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Size: Thousands of matches</a:t>
            </a:r>
          </a:p>
          <a:p>
            <a:pPr marL="280668" lvl="1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Key Columns: Player IDs, Ratings, Winner, Victory Status, Turns, Time Control, Opening Name</a:t>
            </a:r>
          </a:p>
          <a:p>
            <a:pPr marL="280668" lvl="1" indent="0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  <a:sym typeface="Times New Roman"/>
              </a:rPr>
              <a:t>Purpose: Each column offers a different analysis perspective (performance, duration, strategy).</a:t>
            </a:r>
          </a:p>
          <a:p>
            <a:pPr marL="152400" indent="0" algn="just">
              <a:buNone/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  <a:sym typeface="Times New Roman"/>
            </a:endParaRPr>
          </a:p>
          <a:p>
            <a:pPr marL="152400" indent="0" algn="just">
              <a:buNone/>
            </a:pPr>
            <a:endParaRPr lang="en-US" sz="1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indent="0" algn="just">
              <a:buNone/>
            </a:pPr>
            <a:endParaRPr lang="en-US" sz="1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52400" indent="0" algn="just">
              <a:buNone/>
            </a:pPr>
            <a:endParaRPr lang="en-US" sz="10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2770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AB7DE7DD-B1E0-CE16-2F7E-32B8612D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>
            <a:extLst>
              <a:ext uri="{FF2B5EF4-FFF2-40B4-BE49-F238E27FC236}">
                <a16:creationId xmlns:a16="http://schemas.microsoft.com/office/drawing/2014/main" id="{A6286599-0D1A-765D-0817-5CFE2893B825}"/>
              </a:ext>
            </a:extLst>
          </p:cNvPr>
          <p:cNvSpPr/>
          <p:nvPr/>
        </p:nvSpPr>
        <p:spPr>
          <a:xfrm>
            <a:off x="713100" y="309225"/>
            <a:ext cx="1208700" cy="12087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">
            <a:extLst>
              <a:ext uri="{FF2B5EF4-FFF2-40B4-BE49-F238E27FC236}">
                <a16:creationId xmlns:a16="http://schemas.microsoft.com/office/drawing/2014/main" id="{60C33DDE-506E-55EE-881D-A31417A08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799" y="2211197"/>
            <a:ext cx="2948675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Business questions</a:t>
            </a:r>
            <a:endParaRPr sz="4000" dirty="0"/>
          </a:p>
        </p:txBody>
      </p:sp>
      <p:sp>
        <p:nvSpPr>
          <p:cNvPr id="225" name="Google Shape;225;p33">
            <a:extLst>
              <a:ext uri="{FF2B5EF4-FFF2-40B4-BE49-F238E27FC236}">
                <a16:creationId xmlns:a16="http://schemas.microsoft.com/office/drawing/2014/main" id="{5D72DA17-CD28-07BA-C502-75EA033DCE0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100" y="492675"/>
            <a:ext cx="1208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227" name="Google Shape;227;p33">
            <a:extLst>
              <a:ext uri="{FF2B5EF4-FFF2-40B4-BE49-F238E27FC236}">
                <a16:creationId xmlns:a16="http://schemas.microsoft.com/office/drawing/2014/main" id="{3ED22B02-A78D-E9F0-9039-8BC910D2628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475" y="1517925"/>
            <a:ext cx="4978627" cy="2107651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228" name="Google Shape;228;p33">
            <a:extLst>
              <a:ext uri="{FF2B5EF4-FFF2-40B4-BE49-F238E27FC236}">
                <a16:creationId xmlns:a16="http://schemas.microsoft.com/office/drawing/2014/main" id="{1F2E4011-59FA-AB7C-8EB8-FF6231CE417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4396" y="3419897"/>
            <a:ext cx="3115697" cy="1208700"/>
          </a:xfrm>
          <a:prstGeom prst="rect">
            <a:avLst/>
          </a:prstGeom>
          <a:noFill/>
          <a:ln>
            <a:noFill/>
          </a:ln>
          <a:effectLst>
            <a:reflection stA="50000" endPos="49000" fadeDir="5400012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321225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0D963-678F-DA22-50C8-4CF6BAF6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03EC73-375A-5358-725D-A100D56FB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7434" y="1379304"/>
            <a:ext cx="8409131" cy="34164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100" dirty="0">
                <a:latin typeface="Lao UI" panose="020B0502040204020203" pitchFamily="34" charset="0"/>
                <a:cs typeface="Lao UI" panose="020B0502040204020203" pitchFamily="34" charset="0"/>
              </a:rPr>
              <a:t> </a:t>
            </a:r>
            <a:r>
              <a:rPr lang="en-US" sz="1800" dirty="0">
                <a:latin typeface="Lao UI" panose="020B0502040204020203" pitchFamily="34" charset="0"/>
                <a:cs typeface="Lao UI" panose="020B0502040204020203" pitchFamily="34" charset="0"/>
              </a:rPr>
              <a:t>Does White have a higher chance of winning than Black?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Lao UI" panose="020B0502040204020203" pitchFamily="34" charset="0"/>
                <a:cs typeface="Lao UI" panose="020B0502040204020203" pitchFamily="34" charset="0"/>
              </a:rPr>
              <a:t>What are the most common victory statuses (Checkmate, Resign, Timeout)?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Lao UI" panose="020B0502040204020203" pitchFamily="34" charset="0"/>
                <a:cs typeface="Lao UI" panose="020B0502040204020203" pitchFamily="34" charset="0"/>
              </a:rPr>
              <a:t>How does time control (e.g., Blitz vs Rapid) affect game outcomes?</a:t>
            </a:r>
          </a:p>
          <a:p>
            <a:pPr>
              <a:lnSpc>
                <a:spcPct val="200000"/>
              </a:lnSpc>
            </a:pPr>
            <a:r>
              <a:rPr lang="en-US" sz="1800" dirty="0">
                <a:latin typeface="Lao UI" panose="020B0502040204020203" pitchFamily="34" charset="0"/>
                <a:cs typeface="Lao UI" panose="020B0502040204020203" pitchFamily="34" charset="0"/>
              </a:rPr>
              <a:t> Are shorter games more likely to end in resignation?</a:t>
            </a:r>
          </a:p>
          <a:p>
            <a:pPr>
              <a:lnSpc>
                <a:spcPct val="200000"/>
              </a:lnSpc>
            </a:pPr>
            <a:endParaRPr lang="en-US" sz="1800" dirty="0">
              <a:latin typeface="Lao UI" panose="020B0502040204020203" pitchFamily="34" charset="0"/>
              <a:cs typeface="Lao UI" panose="020B0502040204020203" pitchFamily="34" charset="0"/>
            </a:endParaRPr>
          </a:p>
          <a:p>
            <a:endParaRPr lang="en-US" dirty="0">
              <a:latin typeface="Lao UI" panose="020B0502040204020203" pitchFamily="34" charset="0"/>
              <a:cs typeface="Lao UI" panose="020B0502040204020203" pitchFamily="34" charset="0"/>
            </a:endParaRPr>
          </a:p>
          <a:p>
            <a:endParaRPr lang="en-US" dirty="0">
              <a:latin typeface="Lao UI" panose="020B0502040204020203" pitchFamily="34" charset="0"/>
              <a:cs typeface="Lao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C5FB7-EAA0-6AF0-93BB-64824F53331E}"/>
              </a:ext>
            </a:extLst>
          </p:cNvPr>
          <p:cNvSpPr txBox="1"/>
          <p:nvPr/>
        </p:nvSpPr>
        <p:spPr>
          <a:xfrm>
            <a:off x="438615" y="722607"/>
            <a:ext cx="79619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dk1"/>
                </a:solidFill>
                <a:latin typeface="Cinzel"/>
                <a:sym typeface="Cinzel"/>
              </a:rPr>
              <a:t>Business</a:t>
            </a:r>
            <a:r>
              <a:rPr lang="en-US" sz="2400" b="1" dirty="0"/>
              <a:t> </a:t>
            </a:r>
            <a:r>
              <a:rPr lang="en-US" sz="3600" dirty="0">
                <a:solidFill>
                  <a:schemeClr val="dk1"/>
                </a:solidFill>
                <a:latin typeface="Cinzel"/>
              </a:rPr>
              <a:t>questions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23442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0C18D-1F47-1B14-E185-6D7873B11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2A7B-6207-F904-BF53-CF642C118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cs typeface="Arial"/>
                <a:sym typeface="Arial"/>
              </a:rPr>
              <a:t>Business questions: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47FCA-BB0A-804A-C043-6DBDA1BAB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790" y="1052626"/>
            <a:ext cx="7704000" cy="34164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Lao UI" panose="020B0502040204020203" pitchFamily="34" charset="0"/>
                <a:cs typeface="Lao UI" panose="020B0502040204020203" pitchFamily="34" charset="0"/>
              </a:rPr>
              <a:t>What are the </a:t>
            </a:r>
            <a:r>
              <a:rPr lang="en-US" sz="1800" dirty="0">
                <a:latin typeface="Lao UI" panose="020B0502040204020203" pitchFamily="34" charset="0"/>
                <a:cs typeface="Lao UI" panose="020B0502040204020203" pitchFamily="34" charset="0"/>
              </a:rPr>
              <a:t>most</a:t>
            </a:r>
            <a:r>
              <a:rPr lang="en-US" sz="1600" dirty="0">
                <a:latin typeface="Lao UI" panose="020B0502040204020203" pitchFamily="34" charset="0"/>
                <a:cs typeface="Lao UI" panose="020B0502040204020203" pitchFamily="34" charset="0"/>
              </a:rPr>
              <a:t> popular openings, and which have the highest win rates?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Lao UI" panose="020B0502040204020203" pitchFamily="34" charset="0"/>
                <a:cs typeface="Lao UI" panose="020B0502040204020203" pitchFamily="34" charset="0"/>
              </a:rPr>
              <a:t>Does player rating significantly impact winning probability?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Lao UI" panose="020B0502040204020203" pitchFamily="34" charset="0"/>
                <a:cs typeface="Lao UI" panose="020B0502040204020203" pitchFamily="34" charset="0"/>
              </a:rPr>
              <a:t>Who are the top-performing players in terms of win rate?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Lao UI" panose="020B0502040204020203" pitchFamily="34" charset="0"/>
                <a:cs typeface="Lao UI" panose="020B0502040204020203" pitchFamily="34" charset="0"/>
              </a:rPr>
              <a:t>Is there a relationship between rating difference and game length?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397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90F6D1CF-25D8-97D3-AE27-382E8215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>
            <a:extLst>
              <a:ext uri="{FF2B5EF4-FFF2-40B4-BE49-F238E27FC236}">
                <a16:creationId xmlns:a16="http://schemas.microsoft.com/office/drawing/2014/main" id="{CA6438F7-A331-179F-9C0C-379D43EA002D}"/>
              </a:ext>
            </a:extLst>
          </p:cNvPr>
          <p:cNvSpPr/>
          <p:nvPr/>
        </p:nvSpPr>
        <p:spPr>
          <a:xfrm>
            <a:off x="713100" y="309225"/>
            <a:ext cx="1208700" cy="12087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">
            <a:extLst>
              <a:ext uri="{FF2B5EF4-FFF2-40B4-BE49-F238E27FC236}">
                <a16:creationId xmlns:a16="http://schemas.microsoft.com/office/drawing/2014/main" id="{9B1F1492-12F0-4A7B-4B7C-3628E1F7E8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2799" y="2211197"/>
            <a:ext cx="2948675" cy="12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/>
              <a:t>Kpis</a:t>
            </a:r>
            <a:r>
              <a:rPr lang="en-US" sz="4000" dirty="0"/>
              <a:t> &amp; insights</a:t>
            </a:r>
            <a:endParaRPr sz="4000" dirty="0"/>
          </a:p>
        </p:txBody>
      </p:sp>
      <p:sp>
        <p:nvSpPr>
          <p:cNvPr id="225" name="Google Shape;225;p33">
            <a:extLst>
              <a:ext uri="{FF2B5EF4-FFF2-40B4-BE49-F238E27FC236}">
                <a16:creationId xmlns:a16="http://schemas.microsoft.com/office/drawing/2014/main" id="{8217611D-ADBE-B023-C27A-24EA9A48E34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100" y="492675"/>
            <a:ext cx="1208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pic>
        <p:nvPicPr>
          <p:cNvPr id="227" name="Google Shape;227;p33">
            <a:extLst>
              <a:ext uri="{FF2B5EF4-FFF2-40B4-BE49-F238E27FC236}">
                <a16:creationId xmlns:a16="http://schemas.microsoft.com/office/drawing/2014/main" id="{4066B7E6-19AD-A23A-BEEB-F7AFE857E43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475" y="1517925"/>
            <a:ext cx="4978627" cy="2107651"/>
          </a:xfrm>
          <a:prstGeom prst="rect">
            <a:avLst/>
          </a:prstGeom>
          <a:noFill/>
          <a:ln>
            <a:noFill/>
          </a:ln>
          <a:effectLst>
            <a:reflection endPos="30000" dist="38100" dir="5400000" fadeDir="5400012" sy="-100000" algn="bl" rotWithShape="0"/>
          </a:effectLst>
        </p:spPr>
      </p:pic>
      <p:pic>
        <p:nvPicPr>
          <p:cNvPr id="228" name="Google Shape;228;p33">
            <a:extLst>
              <a:ext uri="{FF2B5EF4-FFF2-40B4-BE49-F238E27FC236}">
                <a16:creationId xmlns:a16="http://schemas.microsoft.com/office/drawing/2014/main" id="{E15DE59B-E380-0043-35AE-9419010FBC0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4396" y="3419897"/>
            <a:ext cx="3115697" cy="1208700"/>
          </a:xfrm>
          <a:prstGeom prst="rect">
            <a:avLst/>
          </a:prstGeom>
          <a:noFill/>
          <a:ln>
            <a:noFill/>
          </a:ln>
          <a:effectLst>
            <a:reflection stA="50000" endPos="49000" fadeDir="5400012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03300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90754-9782-F400-071F-C605A6F90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FD72FB-AEA7-B859-4CC5-C675C4F49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934" y="1137684"/>
            <a:ext cx="8272131" cy="3129141"/>
          </a:xfrm>
        </p:spPr>
        <p:txBody>
          <a:bodyPr/>
          <a:lstStyle/>
          <a:p>
            <a:r>
              <a:rPr lang="en-US" b="1" dirty="0"/>
              <a:t>1. Average Game Duration </a:t>
            </a:r>
          </a:p>
          <a:p>
            <a:pPr lvl="1"/>
            <a:r>
              <a:rPr lang="en-US" dirty="0"/>
              <a:t>Columns Used: created _ at × last _ move _at </a:t>
            </a:r>
          </a:p>
          <a:p>
            <a:pPr lvl="1"/>
            <a:r>
              <a:rPr lang="en-US" dirty="0"/>
              <a:t>Description: Average duration of games. This helps analyze whether players prefer longer or shorter matches, and whether their performance is better in the morning or at night. 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US" dirty="0"/>
          </a:p>
          <a:p>
            <a:r>
              <a:rPr lang="en-US" dirty="0"/>
              <a:t>   </a:t>
            </a:r>
            <a:r>
              <a:rPr lang="en-US" b="1" dirty="0"/>
              <a:t>2. Most Popular Time Control </a:t>
            </a:r>
          </a:p>
          <a:p>
            <a:pPr lvl="1"/>
            <a:r>
              <a:rPr lang="en-US" dirty="0"/>
              <a:t>Columns Used: increment _ code </a:t>
            </a:r>
          </a:p>
          <a:p>
            <a:pPr lvl="1"/>
            <a:r>
              <a:rPr lang="en-US" dirty="0"/>
              <a:t>Description: Identifies the most frequently played time control (Bullet, Blitz, Rapid). From this column, we can create a derived column to categorize games into these three types and link them to other data.                                               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006A9F-C295-B4C9-D58D-F19444BC6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64" y="-127590"/>
            <a:ext cx="7080565" cy="1160400"/>
          </a:xfrm>
        </p:spPr>
        <p:txBody>
          <a:bodyPr/>
          <a:lstStyle/>
          <a:p>
            <a:r>
              <a:rPr lang="en-US" dirty="0"/>
              <a:t>1-</a:t>
            </a:r>
            <a:r>
              <a:rPr lang="en-US" sz="3600" b="1" dirty="0"/>
              <a:t>⏱️ Time-related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2770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9227F-95EB-FAC1-8C30-6579CFF55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845F24-9E59-142B-CAEA-DB161C3B6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692" y="1024570"/>
            <a:ext cx="8361801" cy="3249718"/>
          </a:xfrm>
        </p:spPr>
        <p:txBody>
          <a:bodyPr/>
          <a:lstStyle/>
          <a:p>
            <a:r>
              <a:rPr lang="en-US" b="1" dirty="0"/>
              <a:t>3. Win Rate by Increment Code </a:t>
            </a:r>
          </a:p>
          <a:p>
            <a:pPr lvl="1"/>
            <a:r>
              <a:rPr lang="en-US" dirty="0"/>
              <a:t>Columns Used: winner × increment _ code </a:t>
            </a:r>
          </a:p>
          <a:p>
            <a:pPr lvl="1"/>
            <a:r>
              <a:rPr lang="en-US" dirty="0"/>
              <a:t>Description: Win rate for White vs. Black across different time controls.                                                                                                          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4. Winner Trend Over Time (Time Analysis)</a:t>
            </a:r>
          </a:p>
          <a:p>
            <a:pPr lvl="1"/>
            <a:r>
              <a:rPr lang="en-US" dirty="0"/>
              <a:t>Columns Used: timestamp × winner </a:t>
            </a:r>
          </a:p>
          <a:p>
            <a:pPr lvl="1"/>
            <a:r>
              <a:rPr lang="en-US" dirty="0"/>
              <a:t>Description: Tracks winning trends over time (e.g., does White win more during specific periods?).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39F003-F3A6-9EDA-8900-F4F582CBB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198" y="-291187"/>
            <a:ext cx="7080565" cy="1160400"/>
          </a:xfrm>
        </p:spPr>
        <p:txBody>
          <a:bodyPr/>
          <a:lstStyle/>
          <a:p>
            <a:r>
              <a:rPr lang="en-US" dirty="0"/>
              <a:t>1-</a:t>
            </a:r>
            <a:r>
              <a:rPr lang="en-US" sz="3600" b="1" dirty="0"/>
              <a:t>⏱️ Time-related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25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96666-37F8-18E4-514F-27324263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D897F2-18FF-C364-BCA3-59AADDDDE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692" y="1137684"/>
            <a:ext cx="7080565" cy="3136603"/>
          </a:xfrm>
        </p:spPr>
        <p:txBody>
          <a:bodyPr/>
          <a:lstStyle/>
          <a:p>
            <a:r>
              <a:rPr lang="en-US" b="1" dirty="0"/>
              <a:t>5. Win Rate by Opening</a:t>
            </a:r>
          </a:p>
          <a:p>
            <a:pPr lvl="1"/>
            <a:r>
              <a:rPr lang="en-US" dirty="0"/>
              <a:t>Columns Used: winner × </a:t>
            </a:r>
            <a:r>
              <a:rPr lang="en-US" dirty="0" err="1"/>
              <a:t>opening_name</a:t>
            </a:r>
            <a:endParaRPr lang="en-US" dirty="0"/>
          </a:p>
          <a:p>
            <a:pPr lvl="1"/>
            <a:r>
              <a:rPr lang="en-US" dirty="0"/>
              <a:t>Description: Effectiveness of each opening, measured by which side (White or Black) wins more frequently</a:t>
            </a:r>
            <a:r>
              <a:rPr lang="en-US" b="1" dirty="0"/>
              <a:t>.</a:t>
            </a:r>
          </a:p>
          <a:p>
            <a:pPr lvl="1"/>
            <a:endParaRPr lang="en-US" b="1" dirty="0"/>
          </a:p>
          <a:p>
            <a:r>
              <a:rPr lang="en-US" b="1" dirty="0"/>
              <a:t>6. Opening Popularity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opening_name</a:t>
            </a:r>
            <a:endParaRPr lang="en-US" dirty="0"/>
          </a:p>
          <a:p>
            <a:pPr lvl="1"/>
            <a:r>
              <a:rPr lang="en-US" dirty="0"/>
              <a:t>Description: Identifies the most frequently used openings.</a:t>
            </a:r>
          </a:p>
          <a:p>
            <a:pPr lvl="1"/>
            <a:endParaRPr lang="en-US" dirty="0"/>
          </a:p>
          <a:p>
            <a:r>
              <a:rPr lang="en-US" b="1" dirty="0"/>
              <a:t>7. Win Rate by Opening Family</a:t>
            </a:r>
          </a:p>
          <a:p>
            <a:pPr lvl="1"/>
            <a:r>
              <a:rPr lang="en-US" dirty="0"/>
              <a:t>Columns Used: opening × winner</a:t>
            </a:r>
          </a:p>
          <a:p>
            <a:pPr lvl="1"/>
            <a:r>
              <a:rPr lang="en-US" dirty="0"/>
              <a:t>Description: Shows the win rate for White vs. Black by opening family. Helps identify which openings favor one side more.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A85839-628C-5B01-8314-13ACA3E1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64" y="-118195"/>
            <a:ext cx="7080565" cy="1160400"/>
          </a:xfrm>
        </p:spPr>
        <p:txBody>
          <a:bodyPr/>
          <a:lstStyle/>
          <a:p>
            <a:r>
              <a:rPr lang="en-US" sz="3600" b="1" dirty="0"/>
              <a:t>2-♟️ Opening-related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805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E35A-687A-1B8B-4397-BC2F0AF92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748244-40D2-F482-F810-D10CAD6FF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164" y="1127052"/>
            <a:ext cx="7080565" cy="3147236"/>
          </a:xfrm>
        </p:spPr>
        <p:txBody>
          <a:bodyPr/>
          <a:lstStyle/>
          <a:p>
            <a:r>
              <a:rPr lang="en-US" b="1" dirty="0"/>
              <a:t>8. Average Rating by Opening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opening_name</a:t>
            </a:r>
            <a:r>
              <a:rPr lang="en-US" dirty="0"/>
              <a:t> × </a:t>
            </a:r>
            <a:r>
              <a:rPr lang="en-US" dirty="0" err="1"/>
              <a:t>white_rating</a:t>
            </a:r>
            <a:r>
              <a:rPr lang="en-US" dirty="0"/>
              <a:t> × </a:t>
            </a:r>
            <a:r>
              <a:rPr lang="en-US" dirty="0" err="1"/>
              <a:t>black_rating</a:t>
            </a:r>
            <a:endParaRPr lang="en-US" dirty="0"/>
          </a:p>
          <a:p>
            <a:pPr lvl="1"/>
            <a:r>
              <a:rPr lang="en-US" dirty="0"/>
              <a:t>Description: Determines whether stronger or weaker players tend to use specific openings.</a:t>
            </a:r>
          </a:p>
          <a:p>
            <a:pPr lvl="1"/>
            <a:endParaRPr lang="en-US" dirty="0"/>
          </a:p>
          <a:p>
            <a:r>
              <a:rPr lang="en-US" b="1" dirty="0"/>
              <a:t>9. Frequency of Draws by Opening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opening_name</a:t>
            </a:r>
            <a:r>
              <a:rPr lang="en-US" dirty="0"/>
              <a:t> × winner</a:t>
            </a:r>
          </a:p>
          <a:p>
            <a:pPr lvl="1"/>
            <a:r>
              <a:rPr lang="en-US" dirty="0"/>
              <a:t>Description: Identifies openings that lead to draws more often than others.</a:t>
            </a:r>
          </a:p>
          <a:p>
            <a:pPr lvl="1"/>
            <a:endParaRPr lang="en-US" dirty="0"/>
          </a:p>
          <a:p>
            <a:r>
              <a:rPr lang="en-US" b="1" dirty="0"/>
              <a:t>10. Victory Status by Opening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opening_name</a:t>
            </a:r>
            <a:r>
              <a:rPr lang="en-US" dirty="0"/>
              <a:t> × </a:t>
            </a:r>
            <a:r>
              <a:rPr lang="en-US" dirty="0" err="1"/>
              <a:t>victory_status</a:t>
            </a:r>
            <a:endParaRPr lang="en-US" dirty="0"/>
          </a:p>
          <a:p>
            <a:pPr lvl="1"/>
            <a:r>
              <a:rPr lang="en-US" dirty="0"/>
              <a:t>Description: Determines whether certain openings are more likely to lead to checkmate, resignation, or draws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ABB06D-C40F-24B8-A91C-5B4F94172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64" y="-118194"/>
            <a:ext cx="7080565" cy="1160400"/>
          </a:xfrm>
        </p:spPr>
        <p:txBody>
          <a:bodyPr/>
          <a:lstStyle/>
          <a:p>
            <a:r>
              <a:rPr lang="en-US" sz="3600" b="1" dirty="0"/>
              <a:t>2-♟️ Opening-related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360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5B58-5E15-A94D-D752-D57FA489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F6FD47-9973-89EC-C61D-6C49902C5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164" y="1654452"/>
            <a:ext cx="8122557" cy="2619835"/>
          </a:xfrm>
        </p:spPr>
        <p:txBody>
          <a:bodyPr/>
          <a:lstStyle/>
          <a:p>
            <a:r>
              <a:rPr lang="en-US" b="1" dirty="0"/>
              <a:t>11. Player Color Advantage</a:t>
            </a:r>
          </a:p>
          <a:p>
            <a:pPr lvl="1"/>
            <a:r>
              <a:rPr lang="en-US" dirty="0"/>
              <a:t>Columns Used: winner × </a:t>
            </a:r>
            <a:r>
              <a:rPr lang="en-US" dirty="0" err="1"/>
              <a:t>white_id</a:t>
            </a:r>
            <a:r>
              <a:rPr lang="en-US" dirty="0"/>
              <a:t> × </a:t>
            </a:r>
            <a:r>
              <a:rPr lang="en-US" dirty="0" err="1"/>
              <a:t>black_id</a:t>
            </a:r>
            <a:endParaRPr lang="en-US" dirty="0"/>
          </a:p>
          <a:p>
            <a:pPr lvl="1"/>
            <a:r>
              <a:rPr lang="en-US" dirty="0"/>
              <a:t>Description: Evaluates whether White has a measurable advantage over Black.</a:t>
            </a:r>
          </a:p>
          <a:p>
            <a:pPr lvl="1"/>
            <a:endParaRPr lang="en-US" dirty="0"/>
          </a:p>
          <a:p>
            <a:endParaRPr lang="en-US" b="1" dirty="0"/>
          </a:p>
          <a:p>
            <a:r>
              <a:rPr lang="en-US" b="1" dirty="0"/>
              <a:t>12. Most Active Players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white_id</a:t>
            </a:r>
            <a:r>
              <a:rPr lang="en-US" dirty="0"/>
              <a:t> × </a:t>
            </a:r>
            <a:r>
              <a:rPr lang="en-US" dirty="0" err="1"/>
              <a:t>black_id</a:t>
            </a:r>
            <a:endParaRPr lang="en-US" dirty="0"/>
          </a:p>
          <a:p>
            <a:pPr lvl="1"/>
            <a:r>
              <a:rPr lang="en-US" dirty="0"/>
              <a:t>Description: Identifies the most active players, useful for analyzing individual player behavior.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134050-9BB8-1008-9B14-1A33A218A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64" y="296475"/>
            <a:ext cx="7080565" cy="1160400"/>
          </a:xfrm>
        </p:spPr>
        <p:txBody>
          <a:bodyPr/>
          <a:lstStyle/>
          <a:p>
            <a:r>
              <a:rPr lang="en-US" sz="3600" b="1" dirty="0"/>
              <a:t>3-👤 Player-related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69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1107-FE61-1DC5-8174-A51B3D6E1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97812B-185D-5CB7-B55A-3A7617ED3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164" y="713833"/>
            <a:ext cx="8399003" cy="3104706"/>
          </a:xfrm>
        </p:spPr>
        <p:txBody>
          <a:bodyPr/>
          <a:lstStyle/>
          <a:p>
            <a:r>
              <a:rPr lang="en-US" b="1" dirty="0"/>
              <a:t>13. Moves per Game</a:t>
            </a:r>
          </a:p>
          <a:p>
            <a:pPr lvl="1"/>
            <a:r>
              <a:rPr lang="en-US" dirty="0"/>
              <a:t>Columns Used: moves</a:t>
            </a:r>
          </a:p>
          <a:p>
            <a:pPr lvl="1"/>
            <a:r>
              <a:rPr lang="en-US" dirty="0"/>
              <a:t>Description: Total number of moves in a game. This metric reflects the length and complexity of matches.</a:t>
            </a:r>
          </a:p>
          <a:p>
            <a:r>
              <a:rPr lang="en-US" b="1" dirty="0"/>
              <a:t>14. Rating Difference Impact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white_rating</a:t>
            </a:r>
            <a:r>
              <a:rPr lang="en-US" dirty="0"/>
              <a:t> × </a:t>
            </a:r>
            <a:r>
              <a:rPr lang="en-US" dirty="0" err="1"/>
              <a:t>black_rating</a:t>
            </a:r>
            <a:r>
              <a:rPr lang="en-US" dirty="0"/>
              <a:t> × winner</a:t>
            </a:r>
          </a:p>
          <a:p>
            <a:pPr lvl="1"/>
            <a:r>
              <a:rPr lang="en-US" dirty="0"/>
              <a:t>Description: Evaluates whether rating differences significantly determine the outcome of games.</a:t>
            </a:r>
          </a:p>
          <a:p>
            <a:r>
              <a:rPr lang="en-US" b="1" dirty="0"/>
              <a:t>15. Upset Wins (Lower Beats Higher)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white_rating</a:t>
            </a:r>
            <a:r>
              <a:rPr lang="en-US" dirty="0"/>
              <a:t> × </a:t>
            </a:r>
            <a:r>
              <a:rPr lang="en-US" dirty="0" err="1"/>
              <a:t>black_rating</a:t>
            </a:r>
            <a:r>
              <a:rPr lang="en-US" dirty="0"/>
              <a:t> × winner</a:t>
            </a:r>
          </a:p>
          <a:p>
            <a:pPr lvl="1"/>
            <a:r>
              <a:rPr lang="en-US" dirty="0"/>
              <a:t>Description: Analyzes cases where the lower-rated player defeats the </a:t>
            </a:r>
          </a:p>
          <a:p>
            <a:pPr marL="596900" lvl="1" indent="0">
              <a:buNone/>
            </a:pPr>
            <a:r>
              <a:rPr lang="en-US" dirty="0"/>
              <a:t>higher-rated one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BA0AC1-4B52-E5BB-C9B6-F834E930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3" y="-446567"/>
            <a:ext cx="8037496" cy="1160400"/>
          </a:xfrm>
        </p:spPr>
        <p:txBody>
          <a:bodyPr/>
          <a:lstStyle/>
          <a:p>
            <a:r>
              <a:rPr lang="en-US" sz="3600" b="1" dirty="0"/>
              <a:t>4-🏆 Performance-related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09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8F2F4-CDA8-F866-1063-7997FC16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95C5BE-E2D9-F720-DABA-8D8A2F57B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164" y="1212112"/>
            <a:ext cx="8122557" cy="3062175"/>
          </a:xfrm>
        </p:spPr>
        <p:txBody>
          <a:bodyPr/>
          <a:lstStyle/>
          <a:p>
            <a:r>
              <a:rPr lang="en-US" b="1" dirty="0"/>
              <a:t>16. Rated Games by Victory Status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victory_status</a:t>
            </a:r>
            <a:r>
              <a:rPr lang="en-US" dirty="0"/>
              <a:t> × rated</a:t>
            </a:r>
          </a:p>
          <a:p>
            <a:pPr lvl="1"/>
            <a:r>
              <a:rPr lang="en-US" dirty="0"/>
              <a:t>Description: Compares the frequency of resignation, checkmate, and other outcomes in rated vs. unrated games.</a:t>
            </a:r>
          </a:p>
          <a:p>
            <a:pPr lvl="1"/>
            <a:endParaRPr lang="en-US" dirty="0"/>
          </a:p>
          <a:p>
            <a:r>
              <a:rPr lang="en-US" b="1" dirty="0"/>
              <a:t>17. Rated vs. Unrated Games</a:t>
            </a:r>
          </a:p>
          <a:p>
            <a:pPr lvl="1"/>
            <a:r>
              <a:rPr lang="en-US" dirty="0"/>
              <a:t>Columns Used: rated</a:t>
            </a:r>
          </a:p>
          <a:p>
            <a:pPr lvl="1"/>
            <a:r>
              <a:rPr lang="en-US" dirty="0"/>
              <a:t>Description: Measures the distribution of rated vs. unrated matches</a:t>
            </a:r>
            <a:r>
              <a:rPr lang="en-US" b="1" dirty="0"/>
              <a:t>.</a:t>
            </a:r>
          </a:p>
          <a:p>
            <a:pPr lvl="1"/>
            <a:endParaRPr lang="en-US" b="1" dirty="0"/>
          </a:p>
          <a:p>
            <a:r>
              <a:rPr lang="en-US" b="1" dirty="0"/>
              <a:t>18. Type of Win</a:t>
            </a:r>
          </a:p>
          <a:p>
            <a:pPr lvl="1"/>
            <a:r>
              <a:rPr lang="en-US" dirty="0"/>
              <a:t>Columns Used: </a:t>
            </a:r>
            <a:r>
              <a:rPr lang="en-US" dirty="0" err="1"/>
              <a:t>victory_status</a:t>
            </a:r>
            <a:endParaRPr lang="en-US" dirty="0"/>
          </a:p>
          <a:p>
            <a:pPr lvl="1"/>
            <a:r>
              <a:rPr lang="en-US" dirty="0"/>
              <a:t>Description: Analyzes the most common types of game conclusions (e.g., checkmate, resignation, draw).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6DD695-5BDB-B39A-3AE4-39BE84E0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64" y="-127591"/>
            <a:ext cx="8037496" cy="1160400"/>
          </a:xfrm>
        </p:spPr>
        <p:txBody>
          <a:bodyPr/>
          <a:lstStyle/>
          <a:p>
            <a:r>
              <a:rPr lang="en-US" sz="3600" b="1" dirty="0"/>
              <a:t>4-🏆 Performance-related KPIs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678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E75C2-F26B-1216-4D60-A3C72FDF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2D42F-4E0E-1A62-49B3-823A9A5A0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02322"/>
            <a:ext cx="7704000" cy="3629829"/>
          </a:xfrm>
        </p:spPr>
        <p:txBody>
          <a:bodyPr/>
          <a:lstStyle/>
          <a:p>
            <a:r>
              <a:rPr lang="en-US" sz="1600" dirty="0"/>
              <a:t>19. Most Common First Moves:</a:t>
            </a:r>
          </a:p>
          <a:p>
            <a:pPr marL="152400" indent="0">
              <a:buNone/>
            </a:pPr>
            <a:r>
              <a:rPr lang="en-US" sz="1600" dirty="0"/>
              <a:t>	Extract the first move(s) (e4, d4, Nf3, etc.) and show frequency.</a:t>
            </a:r>
          </a:p>
          <a:p>
            <a:endParaRPr lang="en-US" sz="1600" dirty="0"/>
          </a:p>
          <a:p>
            <a:r>
              <a:rPr lang="en-US" sz="1600" dirty="0"/>
              <a:t>20. Most used piece in the first 5 moves:</a:t>
            </a:r>
          </a:p>
          <a:p>
            <a:pPr marL="152400" indent="0">
              <a:buNone/>
            </a:pPr>
            <a:r>
              <a:rPr lang="en-US" sz="1600" dirty="0"/>
              <a:t>	Extract the first five moves and see the most used piece</a:t>
            </a:r>
          </a:p>
          <a:p>
            <a:endParaRPr lang="en-US" sz="1600" dirty="0"/>
          </a:p>
          <a:p>
            <a:r>
              <a:rPr lang="en-US" sz="1600" dirty="0"/>
              <a:t>21. Move Count Until Result:</a:t>
            </a:r>
          </a:p>
          <a:p>
            <a:pPr marL="152400" indent="0">
              <a:buNone/>
            </a:pPr>
            <a:r>
              <a:rPr lang="en-US" sz="1600" dirty="0"/>
              <a:t>	Compare move length with victory status:</a:t>
            </a:r>
          </a:p>
          <a:p>
            <a:pPr marL="152400" indent="0">
              <a:buNone/>
            </a:pPr>
            <a:r>
              <a:rPr lang="en-US" sz="1600" dirty="0"/>
              <a:t>	Quick resignations (&lt;10 moves).</a:t>
            </a:r>
          </a:p>
          <a:p>
            <a:pPr marL="152400" indent="0">
              <a:buNone/>
            </a:pPr>
            <a:r>
              <a:rPr lang="en-US" sz="1600" dirty="0"/>
              <a:t>	Long endgames (&gt;60 moves).</a:t>
            </a:r>
          </a:p>
          <a:p>
            <a:pPr marL="152400" indent="0">
              <a:buNone/>
            </a:pPr>
            <a:r>
              <a:rPr lang="en-US" sz="1600" dirty="0"/>
              <a:t>	Average moves in wins vs. losses vs. draws column used (turns).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1920C-DF3C-BC64-EAD3-3F63D44511B9}"/>
              </a:ext>
            </a:extLst>
          </p:cNvPr>
          <p:cNvSpPr txBox="1"/>
          <p:nvPr/>
        </p:nvSpPr>
        <p:spPr>
          <a:xfrm>
            <a:off x="532717" y="355991"/>
            <a:ext cx="7263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inzel"/>
              </a:rPr>
              <a:t>5-🏆  Moves related KPIs</a:t>
            </a:r>
          </a:p>
        </p:txBody>
      </p:sp>
    </p:spTree>
    <p:extLst>
      <p:ext uri="{BB962C8B-B14F-4D97-AF65-F5344CB8AC3E}">
        <p14:creationId xmlns:p14="http://schemas.microsoft.com/office/powerpoint/2010/main" val="3291660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364B-4161-EF9F-2087-500F5BD2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5B49A-8C16-5F02-79D2-AECC3BD61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002322"/>
            <a:ext cx="7704000" cy="3629829"/>
          </a:xfrm>
        </p:spPr>
        <p:txBody>
          <a:bodyPr/>
          <a:lstStyle/>
          <a:p>
            <a:r>
              <a:rPr lang="en-US" sz="1600" dirty="0"/>
              <a:t>22. Most used last move and piece:</a:t>
            </a:r>
          </a:p>
          <a:p>
            <a:pPr marL="152400" indent="0">
              <a:buNone/>
            </a:pPr>
            <a:r>
              <a:rPr lang="en-US" sz="1600" dirty="0"/>
              <a:t>	</a:t>
            </a:r>
            <a:r>
              <a:rPr lang="en-US" sz="1800" dirty="0"/>
              <a:t>Use the last move to determine the most used last move and piece.</a:t>
            </a:r>
          </a:p>
          <a:p>
            <a:pPr marL="152400" indent="0">
              <a:buNone/>
            </a:pPr>
            <a:endParaRPr lang="en-US" sz="1600" dirty="0"/>
          </a:p>
          <a:p>
            <a:r>
              <a:rPr lang="en-US" sz="1600" dirty="0"/>
              <a:t>23. </a:t>
            </a:r>
            <a:r>
              <a:rPr lang="fr-FR" sz="1600" dirty="0"/>
              <a:t>Game type (Rapid, Blitz and Bullet) and </a:t>
            </a:r>
            <a:r>
              <a:rPr lang="fr-FR" sz="1600" dirty="0" err="1"/>
              <a:t>number</a:t>
            </a:r>
            <a:r>
              <a:rPr lang="fr-FR" sz="1600" dirty="0"/>
              <a:t> of moves:</a:t>
            </a:r>
          </a:p>
          <a:p>
            <a:pPr marL="152400" indent="0">
              <a:buNone/>
            </a:pPr>
            <a:r>
              <a:rPr lang="fr-FR" sz="1600" dirty="0"/>
              <a:t>	</a:t>
            </a:r>
            <a:r>
              <a:rPr lang="fr-FR" sz="1600" dirty="0" err="1"/>
              <a:t>Increment</a:t>
            </a:r>
            <a:r>
              <a:rPr lang="fr-FR" sz="1600" dirty="0"/>
              <a:t> code × </a:t>
            </a:r>
            <a:r>
              <a:rPr lang="fr-FR" sz="1600" dirty="0" err="1"/>
              <a:t>turns</a:t>
            </a:r>
            <a:r>
              <a:rPr lang="fr-FR" sz="1600" dirty="0"/>
              <a:t>.</a:t>
            </a:r>
          </a:p>
          <a:p>
            <a:pPr marL="152400" indent="0">
              <a:buNone/>
            </a:pPr>
            <a:r>
              <a:rPr lang="fr-FR" sz="1600" dirty="0"/>
              <a:t>	To </a:t>
            </a:r>
            <a:r>
              <a:rPr lang="fr-FR" sz="1600" dirty="0" err="1"/>
              <a:t>deduce</a:t>
            </a:r>
            <a:r>
              <a:rPr lang="fr-FR" sz="1600" dirty="0"/>
              <a:t> if the time pressure affects the speed of the </a:t>
            </a:r>
            <a:r>
              <a:rPr lang="fr-FR" sz="1600" dirty="0" err="1"/>
              <a:t>game</a:t>
            </a:r>
            <a:r>
              <a:rPr lang="fr-FR" sz="1600" dirty="0"/>
              <a:t> </a:t>
            </a:r>
            <a:r>
              <a:rPr lang="fr-FR" sz="1600" dirty="0" err="1"/>
              <a:t>played</a:t>
            </a:r>
            <a:r>
              <a:rPr lang="fr-FR" sz="1600" dirty="0"/>
              <a:t> and the 	</a:t>
            </a:r>
            <a:r>
              <a:rPr lang="fr-FR" sz="1600" dirty="0" err="1"/>
              <a:t>number</a:t>
            </a:r>
            <a:r>
              <a:rPr lang="fr-FR" sz="1600" dirty="0"/>
              <a:t> of </a:t>
            </a:r>
            <a:r>
              <a:rPr lang="fr-FR" sz="1600" dirty="0" err="1"/>
              <a:t>turns</a:t>
            </a:r>
            <a:r>
              <a:rPr lang="fr-FR" sz="1600" dirty="0"/>
              <a:t>.</a:t>
            </a:r>
          </a:p>
          <a:p>
            <a:r>
              <a:rPr lang="fr-FR" sz="1600" dirty="0"/>
              <a:t>24. </a:t>
            </a:r>
            <a:r>
              <a:rPr lang="en-US" sz="1600" dirty="0"/>
              <a:t>Relation between moves and victory status:</a:t>
            </a:r>
          </a:p>
          <a:p>
            <a:pPr marL="152400" indent="0">
              <a:buNone/>
            </a:pPr>
            <a:r>
              <a:rPr lang="en-US" sz="1600" dirty="0"/>
              <a:t>	To check if number of turns affects the outcome of the game(</a:t>
            </a:r>
            <a:r>
              <a:rPr lang="en-US" sz="1600" dirty="0" err="1"/>
              <a:t>ie</a:t>
            </a:r>
            <a:r>
              <a:rPr lang="en-US" sz="1600" dirty="0"/>
              <a:t> low turn moves 	end in resignation)</a:t>
            </a:r>
          </a:p>
          <a:p>
            <a:r>
              <a:rPr lang="en-US" sz="1600" dirty="0"/>
              <a:t>25. Aggressive vs Defensive Openings:</a:t>
            </a:r>
          </a:p>
          <a:p>
            <a:pPr marL="152400" indent="0">
              <a:buNone/>
            </a:pPr>
            <a:r>
              <a:rPr lang="en-US" sz="1600" dirty="0"/>
              <a:t>opening name ×  turns, winner.</a:t>
            </a:r>
          </a:p>
          <a:p>
            <a:pPr marL="152400" indent="0">
              <a:buNone/>
            </a:pPr>
            <a:r>
              <a:rPr lang="en-US" sz="1600" dirty="0"/>
              <a:t>To see if aggressive openings have low turns or vice versa.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84C2C-7E15-1CC1-3525-9BAED2F493AE}"/>
              </a:ext>
            </a:extLst>
          </p:cNvPr>
          <p:cNvSpPr txBox="1"/>
          <p:nvPr/>
        </p:nvSpPr>
        <p:spPr>
          <a:xfrm>
            <a:off x="614493" y="355991"/>
            <a:ext cx="7263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inzel"/>
              </a:rPr>
              <a:t>5-🏆  Moves related KPIs</a:t>
            </a:r>
          </a:p>
        </p:txBody>
      </p:sp>
    </p:spTree>
    <p:extLst>
      <p:ext uri="{BB962C8B-B14F-4D97-AF65-F5344CB8AC3E}">
        <p14:creationId xmlns:p14="http://schemas.microsoft.com/office/powerpoint/2010/main" val="1345610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6150-FAFA-ED2D-EB97-02401DD6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F113E6-8905-14B8-2BD8-BFF4D39EA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164" y="1212112"/>
            <a:ext cx="8122557" cy="3062175"/>
          </a:xfrm>
        </p:spPr>
        <p:txBody>
          <a:bodyPr/>
          <a:lstStyle/>
          <a:p>
            <a:r>
              <a:rPr lang="en-US" sz="1600" dirty="0"/>
              <a:t>26. Average Moves by Opening:</a:t>
            </a:r>
          </a:p>
          <a:p>
            <a:pPr marL="139700" indent="0">
              <a:buNone/>
            </a:pPr>
            <a:r>
              <a:rPr lang="en-US" sz="1600" dirty="0"/>
              <a:t>	</a:t>
            </a:r>
            <a:r>
              <a:rPr lang="en-US" sz="1600" dirty="0" err="1"/>
              <a:t>opening_name</a:t>
            </a:r>
            <a:r>
              <a:rPr lang="en-US" sz="1600" dirty="0"/>
              <a:t> × turns.</a:t>
            </a:r>
          </a:p>
          <a:p>
            <a:pPr marL="139700" indent="0">
              <a:buNone/>
            </a:pPr>
            <a:r>
              <a:rPr lang="en-US" sz="1600" dirty="0"/>
              <a:t>	Seeing each opening and its average number of turns in all games.</a:t>
            </a:r>
          </a:p>
          <a:p>
            <a:r>
              <a:rPr lang="en-US" sz="1600" dirty="0"/>
              <a:t>27. Average Moves by Winner:</a:t>
            </a:r>
          </a:p>
          <a:p>
            <a:pPr marL="139700" indent="0">
              <a:buNone/>
            </a:pPr>
            <a:r>
              <a:rPr lang="en-US" sz="1600" dirty="0"/>
              <a:t>	winner(color) × turns.</a:t>
            </a:r>
          </a:p>
          <a:p>
            <a:pPr marL="139700" indent="0">
              <a:buNone/>
            </a:pPr>
            <a:r>
              <a:rPr lang="en-US" sz="1600" dirty="0"/>
              <a:t>	See the average number of turns that each color wins in.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AFD9AA-CB06-8066-959A-684C4C920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64" y="-127591"/>
            <a:ext cx="8037496" cy="1160400"/>
          </a:xfrm>
        </p:spPr>
        <p:txBody>
          <a:bodyPr/>
          <a:lstStyle/>
          <a:p>
            <a:r>
              <a:rPr lang="en-US" sz="3600" b="1" dirty="0"/>
              <a:t>5-🏆  Moves related KPIs</a:t>
            </a:r>
          </a:p>
        </p:txBody>
      </p:sp>
    </p:spTree>
    <p:extLst>
      <p:ext uri="{BB962C8B-B14F-4D97-AF65-F5344CB8AC3E}">
        <p14:creationId xmlns:p14="http://schemas.microsoft.com/office/powerpoint/2010/main" val="1696035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8"/>
          <p:cNvSpPr txBox="1">
            <a:spLocks noGrp="1"/>
          </p:cNvSpPr>
          <p:nvPr>
            <p:ph type="title"/>
          </p:nvPr>
        </p:nvSpPr>
        <p:spPr>
          <a:xfrm>
            <a:off x="3000450" y="1783212"/>
            <a:ext cx="3143100" cy="87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pic>
        <p:nvPicPr>
          <p:cNvPr id="743" name="Google Shape;74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67580" y="243207"/>
            <a:ext cx="1240533" cy="2069337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744" name="Google Shape;74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8868" y="1507252"/>
            <a:ext cx="1236174" cy="2887448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745" name="Google Shape;745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972" y="339488"/>
            <a:ext cx="1230263" cy="2887448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746" name="Google Shape;746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3954" y="903042"/>
            <a:ext cx="930400" cy="1513236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747" name="Google Shape;747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91657" y="2416272"/>
            <a:ext cx="1074772" cy="1978436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pic>
        <p:nvPicPr>
          <p:cNvPr id="748" name="Google Shape;748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0704" y="2488100"/>
            <a:ext cx="925053" cy="1497195"/>
          </a:xfrm>
          <a:prstGeom prst="rect">
            <a:avLst/>
          </a:prstGeom>
          <a:noFill/>
          <a:ln>
            <a:noFill/>
          </a:ln>
          <a:effectLst>
            <a:reflection stA="50000" endPos="31000" fadeDir="5400012" sy="-100000" algn="bl" rotWithShape="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427777-103F-55BA-79D9-7FCCD8C59FAC}"/>
              </a:ext>
            </a:extLst>
          </p:cNvPr>
          <p:cNvSpPr/>
          <p:nvPr/>
        </p:nvSpPr>
        <p:spPr>
          <a:xfrm>
            <a:off x="2994553" y="3226936"/>
            <a:ext cx="3148997" cy="87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merican Chess Day Minitheme by Slidesgo">
  <a:themeElements>
    <a:clrScheme name="Simple Light">
      <a:dk1>
        <a:srgbClr val="000000"/>
      </a:dk1>
      <a:lt1>
        <a:srgbClr val="FFFFFF"/>
      </a:lt1>
      <a:dk2>
        <a:srgbClr val="4E4E4E"/>
      </a:dk2>
      <a:lt2>
        <a:srgbClr val="B3B3B3"/>
      </a:lt2>
      <a:accent1>
        <a:srgbClr val="DBDB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</TotalTime>
  <Words>1469</Words>
  <Application>Microsoft Office PowerPoint</Application>
  <PresentationFormat>On-screen Show (16:9)</PresentationFormat>
  <Paragraphs>173</Paragraphs>
  <Slides>23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Cantarell</vt:lpstr>
      <vt:lpstr>Cinzel</vt:lpstr>
      <vt:lpstr>Lao UI</vt:lpstr>
      <vt:lpstr>Roboto Condensed Light</vt:lpstr>
      <vt:lpstr>The Seasons Bold</vt:lpstr>
      <vt:lpstr>Times New Roman</vt:lpstr>
      <vt:lpstr>Times New Roman Bold</vt:lpstr>
      <vt:lpstr>American Chess Day Minitheme by Slidesgo</vt:lpstr>
      <vt:lpstr>LICHESS GAME ANALYSIS  PROJECT</vt:lpstr>
      <vt:lpstr>TEAM MEMBERS</vt:lpstr>
      <vt:lpstr>OUTLINES</vt:lpstr>
      <vt:lpstr>PROJECT OBJECTIVE</vt:lpstr>
      <vt:lpstr>PROJECT OBJECTIVE</vt:lpstr>
      <vt:lpstr>PROJECT OBJECTIVE</vt:lpstr>
      <vt:lpstr>Data source</vt:lpstr>
      <vt:lpstr>Data Source (Brief Description)  </vt:lpstr>
      <vt:lpstr>Business questions</vt:lpstr>
      <vt:lpstr>PowerPoint Presentation</vt:lpstr>
      <vt:lpstr>Business questions:</vt:lpstr>
      <vt:lpstr>Kpis &amp; insights</vt:lpstr>
      <vt:lpstr>1-⏱️ Time-related KPIs</vt:lpstr>
      <vt:lpstr>1-⏱️ Time-related KPIs</vt:lpstr>
      <vt:lpstr>2-♟️ Opening-related KPIs</vt:lpstr>
      <vt:lpstr>2-♟️ Opening-related KPIs</vt:lpstr>
      <vt:lpstr>3-👤 Player-related KPIs</vt:lpstr>
      <vt:lpstr>4-🏆 Performance-related KPIs</vt:lpstr>
      <vt:lpstr>4-🏆 Performance-related KPIs</vt:lpstr>
      <vt:lpstr>PowerPoint Presentation</vt:lpstr>
      <vt:lpstr>PowerPoint Presentation</vt:lpstr>
      <vt:lpstr>5-🏆  Moves related KPIs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LICHESS GAME ANALYSIS  PROJECT</dc:title>
  <dc:creator>Seif Khaled</dc:creator>
  <cp:lastModifiedBy>USER</cp:lastModifiedBy>
  <cp:revision>18</cp:revision>
  <dcterms:modified xsi:type="dcterms:W3CDTF">2025-11-27T19:58:34Z</dcterms:modified>
</cp:coreProperties>
</file>